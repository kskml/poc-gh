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22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1.png"/><Relationship Id="rId4" Type="http://schemas.openxmlformats.org/officeDocument/2006/relationships/image" Target="../media/image26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6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3.png"/><Relationship Id="rId13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1949576"/>
            <a:ext cx="609584" cy="4632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5942" y="2905124"/>
            <a:ext cx="7619809" cy="1466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950"/>
              </a:spcAft>
            </a:pPr>
            <a:r>
              <a:rPr sz="3827" b="1">
                <a:solidFill>
                  <a:srgbClr val="FFFFFF"/>
                </a:solidFill>
              </a:rPr>
              <a:t>AI Basics: Understanding 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42" y="4657725"/>
            <a:ext cx="7619809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A Comprehensive Guide to Tokens, Context Windows, and Pricing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Introduction to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23824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What are LLMs?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020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6764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Neural networks</a:t>
            </a:r>
            <a:r>
              <a:rPr sz="1196" b="0">
                <a:solidFill>
                  <a:srgbClr val="000000"/>
                </a:solidFill>
              </a:rPr>
              <a:t> trained on vast text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20288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Capable of </a:t>
            </a:r>
            <a:r>
              <a:rPr sz="1196" b="1">
                <a:solidFill>
                  <a:srgbClr val="4D96FF"/>
                </a:solidFill>
              </a:rPr>
              <a:t>understanding</a:t>
            </a:r>
            <a:r>
              <a:rPr sz="1196" b="0">
                <a:solidFill>
                  <a:srgbClr val="000000"/>
                </a:solidFill>
              </a:rPr>
              <a:t> and </a:t>
            </a:r>
            <a:r>
              <a:rPr sz="1196" b="1">
                <a:solidFill>
                  <a:srgbClr val="4D96FF"/>
                </a:solidFill>
              </a:rPr>
              <a:t>generating</a:t>
            </a:r>
            <a:r>
              <a:rPr sz="1196" b="0">
                <a:solidFill>
                  <a:srgbClr val="000000"/>
                </a:solidFill>
              </a:rPr>
              <a:t> human-like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3812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Based on </a:t>
            </a:r>
            <a:r>
              <a:rPr sz="1196" b="1">
                <a:solidFill>
                  <a:srgbClr val="4D96FF"/>
                </a:solidFill>
              </a:rPr>
              <a:t>Transformer architecture</a:t>
            </a:r>
            <a:r>
              <a:rPr sz="1196" b="0">
                <a:solidFill>
                  <a:srgbClr val="000000"/>
                </a:solidFill>
              </a:rPr>
              <a:t> (2017)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905124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Evolution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985134"/>
            <a:ext cx="228594" cy="125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33" y="334327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2018: </a:t>
            </a:r>
            <a:r>
              <a:rPr sz="1196" b="1">
                <a:solidFill>
                  <a:srgbClr val="4D96FF"/>
                </a:solidFill>
              </a:rPr>
              <a:t>GPT-1</a:t>
            </a:r>
            <a:r>
              <a:rPr sz="1196" b="0">
                <a:solidFill>
                  <a:srgbClr val="000000"/>
                </a:solidFill>
              </a:rPr>
              <a:t> (117M parameters)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33" y="369569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2020: </a:t>
            </a:r>
            <a:r>
              <a:rPr sz="1196" b="1">
                <a:solidFill>
                  <a:srgbClr val="4D96FF"/>
                </a:solidFill>
              </a:rPr>
              <a:t>GPT-3</a:t>
            </a:r>
            <a:r>
              <a:rPr sz="1196" b="0">
                <a:solidFill>
                  <a:srgbClr val="000000"/>
                </a:solidFill>
              </a:rPr>
              <a:t> (175B parameters)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404812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2023: </a:t>
            </a:r>
            <a:r>
              <a:rPr sz="1196" b="1">
                <a:solidFill>
                  <a:srgbClr val="4D96FF"/>
                </a:solidFill>
              </a:rPr>
              <a:t>GPT-4</a:t>
            </a:r>
            <a:r>
              <a:rPr sz="1196" b="0">
                <a:solidFill>
                  <a:srgbClr val="000000"/>
                </a:solidFill>
              </a:rPr>
              <a:t> (1.76T parameters)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" y="44005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2025: </a:t>
            </a:r>
            <a:r>
              <a:rPr sz="1196" b="1">
                <a:solidFill>
                  <a:srgbClr val="4D96FF"/>
                </a:solidFill>
              </a:rPr>
              <a:t>GPT-5</a:t>
            </a:r>
            <a:r>
              <a:rPr sz="1196" b="0">
                <a:solidFill>
                  <a:srgbClr val="000000"/>
                </a:solidFill>
              </a:rPr>
              <a:t> and other frontier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8719" y="123824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Key Players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38719" y="1327785"/>
            <a:ext cx="228594" cy="1257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38719" y="16764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OpenAI</a:t>
            </a:r>
            <a:r>
              <a:rPr sz="1196" b="0">
                <a:solidFill>
                  <a:srgbClr val="000000"/>
                </a:solidFill>
              </a:rPr>
              <a:t>: GPT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719" y="20288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Anthropic</a:t>
            </a:r>
            <a:r>
              <a:rPr sz="1196" b="0">
                <a:solidFill>
                  <a:srgbClr val="000000"/>
                </a:solidFill>
              </a:rPr>
              <a:t>: Claude series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8719" y="23812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Google</a:t>
            </a:r>
            <a:r>
              <a:rPr sz="1196" b="0">
                <a:solidFill>
                  <a:srgbClr val="000000"/>
                </a:solidFill>
              </a:rPr>
              <a:t>: Gemini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8719" y="273367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Meta</a:t>
            </a:r>
            <a:r>
              <a:rPr sz="1196" b="0">
                <a:solidFill>
                  <a:srgbClr val="000000"/>
                </a:solidFill>
              </a:rPr>
              <a:t>: Llama series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8719" y="30861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Mistral</a:t>
            </a:r>
            <a:r>
              <a:rPr sz="1196" b="0">
                <a:solidFill>
                  <a:srgbClr val="000000"/>
                </a:solidFill>
              </a:rPr>
              <a:t>: Mistral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8719" y="34385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DeepSeek</a:t>
            </a:r>
            <a:r>
              <a:rPr sz="1196" b="0">
                <a:solidFill>
                  <a:srgbClr val="000000"/>
                </a:solidFill>
              </a:rPr>
              <a:t>: DeepSeek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8719" y="4076699"/>
            <a:ext cx="5286242" cy="28575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LLM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Transformer Architecture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103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5811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Introduced in </a:t>
            </a:r>
            <a:r>
              <a:rPr sz="1196" b="1">
                <a:solidFill>
                  <a:srgbClr val="4D96FF"/>
                </a:solidFill>
              </a:rPr>
              <a:t>2017</a:t>
            </a:r>
            <a:r>
              <a:rPr sz="1196" b="0">
                <a:solidFill>
                  <a:srgbClr val="000000"/>
                </a:solidFill>
              </a:rPr>
              <a:t> by Google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93357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Replaces </a:t>
            </a:r>
            <a:r>
              <a:rPr sz="1196" b="1">
                <a:solidFill>
                  <a:srgbClr val="4D96FF"/>
                </a:solidFill>
              </a:rPr>
              <a:t>RNNs</a:t>
            </a:r>
            <a:r>
              <a:rPr sz="1196" b="0">
                <a:solidFill>
                  <a:srgbClr val="000000"/>
                </a:solidFill>
              </a:rPr>
              <a:t> and </a:t>
            </a:r>
            <a:r>
              <a:rPr sz="1196" b="1">
                <a:solidFill>
                  <a:srgbClr val="4D96FF"/>
                </a:solidFill>
              </a:rPr>
              <a:t>CNNs</a:t>
            </a:r>
            <a:r>
              <a:rPr sz="1196" b="0">
                <a:solidFill>
                  <a:srgbClr val="000000"/>
                </a:solidFill>
              </a:rPr>
              <a:t> for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2860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Parallel processing of all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6384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Positional encoding for sequence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3228975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Attention Mechanisms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281983"/>
            <a:ext cx="266693" cy="1797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66712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Self-attention</a:t>
            </a:r>
            <a:r>
              <a:rPr sz="1196" b="0">
                <a:solidFill>
                  <a:srgbClr val="000000"/>
                </a:solidFill>
              </a:rPr>
              <a:t>: Each token attends to all others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40195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Multi-head attention</a:t>
            </a:r>
            <a:r>
              <a:rPr sz="1196" b="0">
                <a:solidFill>
                  <a:srgbClr val="000000"/>
                </a:solidFill>
              </a:rPr>
              <a:t>: Multiple attention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" y="437197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Weighted sum of all token representations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" y="472439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Enables understanding of context and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33" y="531495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Key Components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5339797"/>
            <a:ext cx="266693" cy="2551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6733" y="575309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Embedding layer</a:t>
            </a:r>
            <a:r>
              <a:rPr sz="1196" b="0">
                <a:solidFill>
                  <a:srgbClr val="000000"/>
                </a:solidFill>
              </a:rPr>
              <a:t>: Converts tokens to vectors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33" y="61055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Positional encoding</a:t>
            </a:r>
            <a:r>
              <a:rPr sz="1196" b="0">
                <a:solidFill>
                  <a:srgbClr val="000000"/>
                </a:solidFill>
              </a:rPr>
              <a:t>: Adds position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3" y="64579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Feed-forward networks</a:t>
            </a:r>
            <a:r>
              <a:rPr sz="1196" b="0">
                <a:solidFill>
                  <a:srgbClr val="000000"/>
                </a:solidFill>
              </a:rPr>
              <a:t>: Non-linear transformations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33" y="681037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Layer normalization</a:t>
            </a:r>
            <a:r>
              <a:rPr sz="1196" b="0">
                <a:solidFill>
                  <a:srgbClr val="000000"/>
                </a:solidFill>
              </a:rPr>
              <a:t>: Stabilizes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8719" y="2171700"/>
            <a:ext cx="5286242" cy="361949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8719" y="5981699"/>
            <a:ext cx="528624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The Transformer architecture with encoder-decoder structure and multi-head attention mechanisms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Tokens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What are Tokens?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5241"/>
            <a:ext cx="266693" cy="220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5811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Smallest </a:t>
            </a:r>
            <a:r>
              <a:rPr sz="1196" b="1">
                <a:solidFill>
                  <a:srgbClr val="4D96FF"/>
                </a:solidFill>
              </a:rPr>
              <a:t>units of data</a:t>
            </a:r>
            <a:r>
              <a:rPr sz="1196" b="0">
                <a:solidFill>
                  <a:srgbClr val="000000"/>
                </a:solidFill>
              </a:rPr>
              <a:t> processed by AI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93357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Not always whole words - can be parts of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2860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For English: </a:t>
            </a:r>
            <a:r>
              <a:rPr sz="1196" b="1">
                <a:solidFill>
                  <a:srgbClr val="4D96FF"/>
                </a:solidFill>
              </a:rPr>
              <a:t>1 token ≈ 4 characters</a:t>
            </a:r>
            <a:r>
              <a:rPr sz="1196" b="0">
                <a:solidFill>
                  <a:srgbClr val="000000"/>
                </a:solidFill>
              </a:rPr>
              <a:t> or </a:t>
            </a:r>
            <a:r>
              <a:rPr sz="1196" b="1">
                <a:solidFill>
                  <a:srgbClr val="4D96FF"/>
                </a:solidFill>
              </a:rPr>
              <a:t>0.75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6384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Each token has a </a:t>
            </a:r>
            <a:r>
              <a:rPr sz="1196" b="1">
                <a:solidFill>
                  <a:srgbClr val="4D96FF"/>
                </a:solidFill>
              </a:rPr>
              <a:t>numerical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327659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Tokenization Process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294821"/>
            <a:ext cx="266693" cy="2493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7147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Text is </a:t>
            </a:r>
            <a:r>
              <a:rPr sz="1196" b="1">
                <a:solidFill>
                  <a:srgbClr val="4D96FF"/>
                </a:solidFill>
              </a:rPr>
              <a:t>broken down</a:t>
            </a:r>
            <a:r>
              <a:rPr sz="1196" b="0">
                <a:solidFill>
                  <a:srgbClr val="000000"/>
                </a:solidFill>
              </a:rPr>
              <a:t> into smaller pieces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40576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Common methods: </a:t>
            </a:r>
            <a:r>
              <a:rPr sz="1196" b="1">
                <a:solidFill>
                  <a:srgbClr val="4D96FF"/>
                </a:solidFill>
              </a:rPr>
              <a:t>Byte-Pair Encoding</a:t>
            </a:r>
            <a:r>
              <a:rPr sz="1196" b="0">
                <a:solidFill>
                  <a:srgbClr val="000000"/>
                </a:solidFill>
              </a:rPr>
              <a:t>, </a:t>
            </a:r>
            <a:r>
              <a:rPr sz="1196" b="1">
                <a:solidFill>
                  <a:srgbClr val="4D96FF"/>
                </a:solidFill>
              </a:rPr>
              <a:t>WordPiece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" y="44196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Optimized to reduce vocabulary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" y="47625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Helps models handle </a:t>
            </a:r>
            <a:r>
              <a:rPr sz="1196" b="1">
                <a:solidFill>
                  <a:srgbClr val="4D96FF"/>
                </a:solidFill>
              </a:rPr>
              <a:t>unknown words</a:t>
            </a:r>
            <a:r>
              <a:rPr sz="1196" b="0">
                <a:solidFill>
                  <a:srgbClr val="000000"/>
                </a:solidFill>
              </a:rPr>
              <a:t> and </a:t>
            </a:r>
            <a:r>
              <a:rPr sz="1196" b="1">
                <a:solidFill>
                  <a:srgbClr val="4D96FF"/>
                </a:solidFill>
              </a:rPr>
              <a:t>languages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400675"/>
            <a:ext cx="5286242" cy="1257300"/>
          </a:xfrm>
          <a:prstGeom prst="roundRect">
            <a:avLst>
              <a:gd name="adj" fmla="val 0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04123" y="5963285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703" y="5543550"/>
            <a:ext cx="496240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2A5C"/>
                </a:solidFill>
              </a:rPr>
              <a:t>Example: Tokenization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03" y="5857875"/>
            <a:ext cx="4962400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"Understanding AI models" becomes: 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956" b="0">
                <a:solidFill>
                  <a:srgbClr val="000000"/>
                </a:solidFill>
              </a:rPr>
              <a:t>Under</a:t>
            </a:r>
            <a:r>
              <a:rPr sz="717" b="0">
                <a:solidFill>
                  <a:srgbClr val="666666"/>
                </a:solidFill>
              </a:rPr>
              <a:t>[1]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956" b="0">
                <a:solidFill>
                  <a:srgbClr val="000000"/>
                </a:solidFill>
              </a:rPr>
              <a:t>standing</a:t>
            </a:r>
            <a:r>
              <a:rPr sz="717" b="0">
                <a:solidFill>
                  <a:srgbClr val="666666"/>
                </a:solidFill>
              </a:rPr>
              <a:t>[2]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956" b="0">
                <a:solidFill>
                  <a:srgbClr val="000000"/>
                </a:solidFill>
              </a:rPr>
              <a:t>AI</a:t>
            </a:r>
            <a:r>
              <a:rPr sz="717" b="0">
                <a:solidFill>
                  <a:srgbClr val="666666"/>
                </a:solidFill>
              </a:rPr>
              <a:t>[3]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956" b="0">
                <a:solidFill>
                  <a:srgbClr val="000000"/>
                </a:solidFill>
              </a:rPr>
              <a:t>models</a:t>
            </a:r>
            <a:r>
              <a:rPr sz="717" b="0">
                <a:solidFill>
                  <a:srgbClr val="666666"/>
                </a:solidFill>
              </a:rPr>
              <a:t>[4]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753" y="6229350"/>
            <a:ext cx="819129" cy="266699"/>
          </a:xfrm>
          <a:prstGeom prst="roundRect">
            <a:avLst>
              <a:gd name="adj" fmla="val 2857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52556" y="6229350"/>
            <a:ext cx="1095347" cy="266699"/>
          </a:xfrm>
          <a:prstGeom prst="roundRect">
            <a:avLst>
              <a:gd name="adj" fmla="val 2857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24101" y="6229350"/>
            <a:ext cx="542911" cy="266699"/>
          </a:xfrm>
          <a:prstGeom prst="roundRect">
            <a:avLst>
              <a:gd name="adj" fmla="val 2857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33686" y="6229350"/>
            <a:ext cx="904852" cy="266699"/>
          </a:xfrm>
          <a:prstGeom prst="roundRect">
            <a:avLst>
              <a:gd name="adj" fmla="val 2857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8719" y="1143000"/>
            <a:ext cx="5286242" cy="3047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8719" y="4381499"/>
            <a:ext cx="52862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Example of how text is broken down into tokens for processing by AI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8719" y="476250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Why Tokens Matter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4810539"/>
            <a:ext cx="266693" cy="20872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38719" y="52006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Foundation of </a:t>
            </a:r>
            <a:r>
              <a:rPr sz="1196" b="1">
                <a:solidFill>
                  <a:srgbClr val="4D96FF"/>
                </a:solidFill>
              </a:rPr>
              <a:t>model training</a:t>
            </a:r>
            <a:r>
              <a:rPr sz="1196" b="0">
                <a:solidFill>
                  <a:srgbClr val="000000"/>
                </a:solidFill>
              </a:rPr>
              <a:t> and </a:t>
            </a:r>
            <a:r>
              <a:rPr sz="1196" b="1">
                <a:solidFill>
                  <a:srgbClr val="4D96FF"/>
                </a:solidFill>
              </a:rPr>
              <a:t>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8719" y="555307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Determines </a:t>
            </a:r>
            <a:r>
              <a:rPr sz="1196" b="1">
                <a:solidFill>
                  <a:srgbClr val="4D96FF"/>
                </a:solidFill>
              </a:rPr>
              <a:t>context window</a:t>
            </a:r>
            <a:r>
              <a:rPr sz="1196" b="0">
                <a:solidFill>
                  <a:srgbClr val="000000"/>
                </a:solidFill>
              </a:rPr>
              <a:t>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8719" y="59055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Directly impacts </a:t>
            </a:r>
            <a:r>
              <a:rPr sz="1196" b="1">
                <a:solidFill>
                  <a:srgbClr val="4D96FF"/>
                </a:solidFill>
              </a:rPr>
              <a:t>pricing</a:t>
            </a:r>
            <a:r>
              <a:rPr sz="1196" b="0">
                <a:solidFill>
                  <a:srgbClr val="000000"/>
                </a:solidFill>
              </a:rPr>
              <a:t> and </a:t>
            </a:r>
            <a:r>
              <a:rPr sz="1196" b="1">
                <a:solidFill>
                  <a:srgbClr val="4D96FF"/>
                </a:solidFill>
              </a:rPr>
              <a:t>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8719" y="62579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Enables </a:t>
            </a:r>
            <a:r>
              <a:rPr sz="1196" b="1">
                <a:solidFill>
                  <a:srgbClr val="4D96FF"/>
                </a:solidFill>
              </a:rPr>
              <a:t>cross-lingual</a:t>
            </a:r>
            <a:r>
              <a:rPr sz="1196" b="0">
                <a:solidFill>
                  <a:srgbClr val="000000"/>
                </a:solidFill>
              </a:rPr>
              <a:t> understanding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Context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What is a Context Window?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2342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5811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Maximum number of </a:t>
            </a:r>
            <a:r>
              <a:rPr sz="1196" b="1">
                <a:solidFill>
                  <a:srgbClr val="4D96FF"/>
                </a:solidFill>
              </a:rPr>
              <a:t>tokens</a:t>
            </a:r>
            <a:r>
              <a:rPr sz="1196" b="0">
                <a:solidFill>
                  <a:srgbClr val="000000"/>
                </a:solidFill>
              </a:rPr>
              <a:t> an LLM can process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93357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Includes both </a:t>
            </a:r>
            <a:r>
              <a:rPr sz="1196" b="1">
                <a:solidFill>
                  <a:srgbClr val="4D96FF"/>
                </a:solidFill>
              </a:rPr>
              <a:t>input prompt</a:t>
            </a:r>
            <a:r>
              <a:rPr sz="1196" b="0">
                <a:solidFill>
                  <a:srgbClr val="000000"/>
                </a:solidFill>
              </a:rPr>
              <a:t> and </a:t>
            </a:r>
            <a:r>
              <a:rPr sz="1196" b="1">
                <a:solidFill>
                  <a:srgbClr val="4D96FF"/>
                </a:solidFill>
              </a:rPr>
              <a:t>generated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2860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Determines how much information the model can "remember"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6384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Varies significantly between different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352425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Evolution of Context Windows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604177"/>
            <a:ext cx="266693" cy="1449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396239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2018: </a:t>
            </a:r>
            <a:r>
              <a:rPr sz="1196" b="1">
                <a:solidFill>
                  <a:srgbClr val="4D96FF"/>
                </a:solidFill>
              </a:rPr>
              <a:t>512 tokens</a:t>
            </a:r>
            <a:r>
              <a:rPr sz="1196" b="0">
                <a:solidFill>
                  <a:srgbClr val="000000"/>
                </a:solidFill>
              </a:rPr>
              <a:t> (GPT-1)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43243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2020: </a:t>
            </a:r>
            <a:r>
              <a:rPr sz="1196" b="1">
                <a:solidFill>
                  <a:srgbClr val="4D96FF"/>
                </a:solidFill>
              </a:rPr>
              <a:t>2,048 tokens</a:t>
            </a:r>
            <a:r>
              <a:rPr sz="1196" b="0">
                <a:solidFill>
                  <a:srgbClr val="000000"/>
                </a:solidFill>
              </a:rPr>
              <a:t> (GPT-3)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" y="46672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2023: </a:t>
            </a:r>
            <a:r>
              <a:rPr sz="1196" b="1">
                <a:solidFill>
                  <a:srgbClr val="4D96FF"/>
                </a:solidFill>
              </a:rPr>
              <a:t>32,000+ tokens</a:t>
            </a:r>
            <a:r>
              <a:rPr sz="1196" b="0">
                <a:solidFill>
                  <a:srgbClr val="000000"/>
                </a:solidFill>
              </a:rPr>
              <a:t> (GPT-4, Claude)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" y="50292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2025: </a:t>
            </a:r>
            <a:r>
              <a:rPr sz="1196" b="1">
                <a:solidFill>
                  <a:srgbClr val="4D96FF"/>
                </a:solidFill>
              </a:rPr>
              <a:t>1M+ tokens</a:t>
            </a:r>
            <a:r>
              <a:rPr sz="1196" b="0">
                <a:solidFill>
                  <a:srgbClr val="000000"/>
                </a:solidFill>
              </a:rPr>
              <a:t> (Claude Sonnet 4, Gemini 2.5)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915025"/>
            <a:ext cx="5286242" cy="1981199"/>
          </a:xfrm>
          <a:prstGeom prst="roundRect">
            <a:avLst>
              <a:gd name="adj" fmla="val 0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257826" y="6839584"/>
            <a:ext cx="19811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703" y="6057900"/>
            <a:ext cx="496240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2A5C"/>
                </a:solidFill>
              </a:rPr>
              <a:t>Why Context Windows Matter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03" y="6372225"/>
            <a:ext cx="4962400" cy="1381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Larger context windows enable: 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0">
                <a:solidFill>
                  <a:srgbClr val="000000"/>
                </a:solidFill>
              </a:rPr>
              <a:t>Processing of longer documents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0">
                <a:solidFill>
                  <a:srgbClr val="000000"/>
                </a:solidFill>
              </a:rPr>
              <a:t>More coherent conversations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0">
                <a:solidFill>
                  <a:srgbClr val="000000"/>
                </a:solidFill>
              </a:rPr>
              <a:t>Better understanding of complex queries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0">
                <a:solidFill>
                  <a:srgbClr val="000000"/>
                </a:solidFill>
              </a:rPr>
              <a:t>Enhanced reasoning capabilities</a:t>
            </a: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8719" y="1143000"/>
            <a:ext cx="5286242" cy="30479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8719" y="4381499"/>
            <a:ext cx="528624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Visualization of how context windows limit the amount of information an LLM can 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8719" y="495299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Impact on Performance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5011185"/>
            <a:ext cx="266693" cy="18842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38719" y="53911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Longer context</a:t>
            </a:r>
            <a:r>
              <a:rPr sz="1196" b="0">
                <a:solidFill>
                  <a:srgbClr val="000000"/>
                </a:solidFill>
              </a:rPr>
              <a:t> = More memory and compute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8719" y="574357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Models may </a:t>
            </a:r>
            <a:r>
              <a:rPr sz="1196" b="1">
                <a:solidFill>
                  <a:srgbClr val="4D96FF"/>
                </a:solidFill>
              </a:rPr>
              <a:t>lose focus</a:t>
            </a:r>
            <a:r>
              <a:rPr sz="1196" b="0">
                <a:solidFill>
                  <a:srgbClr val="000000"/>
                </a:solidFill>
              </a:rPr>
              <a:t> on early tokens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8719" y="609599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Performance can </a:t>
            </a:r>
            <a:r>
              <a:rPr sz="1196" b="1">
                <a:solidFill>
                  <a:srgbClr val="4D96FF"/>
                </a:solidFill>
              </a:rPr>
              <a:t>degrade</a:t>
            </a:r>
            <a:r>
              <a:rPr sz="1196" b="0">
                <a:solidFill>
                  <a:srgbClr val="000000"/>
                </a:solidFill>
              </a:rPr>
              <a:t> at extreme lengths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8719" y="64484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Trade-off between </a:t>
            </a:r>
            <a:r>
              <a:rPr sz="1196" b="1">
                <a:solidFill>
                  <a:srgbClr val="4D96FF"/>
                </a:solidFill>
              </a:rPr>
              <a:t>size</a:t>
            </a:r>
            <a:r>
              <a:rPr sz="1196" b="0">
                <a:solidFill>
                  <a:srgbClr val="000000"/>
                </a:solidFill>
              </a:rPr>
              <a:t> and </a:t>
            </a:r>
            <a:r>
              <a:rPr sz="1196" b="1">
                <a:solidFill>
                  <a:srgbClr val="4D96FF"/>
                </a:solidFill>
              </a:rPr>
              <a:t>efficiency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8719" y="7229475"/>
            <a:ext cx="5286242" cy="857250"/>
          </a:xfrm>
          <a:prstGeom prst="roundRect">
            <a:avLst>
              <a:gd name="adj" fmla="val 17777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1590" y="7543800"/>
            <a:ext cx="67625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02A5C"/>
                </a:solidFill>
              </a:rPr>
              <a:t>Example: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0719" y="7372350"/>
            <a:ext cx="4181370" cy="571500"/>
          </a:xfrm>
          <a:prstGeom prst="roundRect">
            <a:avLst>
              <a:gd name="adj" fmla="val 26666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00719" y="7372350"/>
            <a:ext cx="2924101" cy="571500"/>
          </a:xfrm>
          <a:prstGeom prst="roundRect">
            <a:avLst>
              <a:gd name="adj" fmla="val 2666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719" y="7372350"/>
            <a:ext cx="292410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Used Context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05772" y="7372350"/>
            <a:ext cx="19049" cy="57150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Context Window Sizes in Different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1085822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Context windows have </a:t>
            </a:r>
            <a:r>
              <a:rPr sz="1196" b="1">
                <a:solidFill>
                  <a:srgbClr val="4D96FF"/>
                </a:solidFill>
              </a:rPr>
              <a:t>dramatically expanded</a:t>
            </a:r>
            <a:r>
              <a:rPr sz="1196" b="0">
                <a:solidFill>
                  <a:srgbClr val="333333"/>
                </a:solidFill>
              </a:rPr>
              <a:t> over recent years, enabling LLMs to process increasingly large amounts of information in a single interaction.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680085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27" y="6781799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Ultra-large (10M+ tokens)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5982" y="680085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14577" y="6781799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Large (1M+ tokens)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5667" y="680085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8F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4261" y="6781799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Medium (200K+ tokens)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4" y="680085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C7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8739" y="6781799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Standard (128K tokens)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7067549"/>
            <a:ext cx="10858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Note: Context window sizes continue to evolve rapidly as technology advances. Some models offer different window sizes based on pricing tiers.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Input and Output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482905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Input Tokens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103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581149"/>
            <a:ext cx="4829054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Tokens in your </a:t>
            </a:r>
            <a:r>
              <a:rPr sz="1196" b="1">
                <a:solidFill>
                  <a:srgbClr val="4D96FF"/>
                </a:solidFill>
              </a:rPr>
              <a:t>prompt</a:t>
            </a:r>
            <a:r>
              <a:rPr sz="1196" b="0">
                <a:solidFill>
                  <a:srgbClr val="000000"/>
                </a:solidFill>
              </a:rPr>
              <a:t> or </a:t>
            </a:r>
            <a:r>
              <a:rPr sz="1196" b="1">
                <a:solidFill>
                  <a:srgbClr val="4D96FF"/>
                </a:solidFill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933574"/>
            <a:ext cx="4829054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Includes </a:t>
            </a:r>
            <a:r>
              <a:rPr sz="1196" b="1">
                <a:solidFill>
                  <a:srgbClr val="4D96FF"/>
                </a:solidFill>
              </a:rPr>
              <a:t>system messages</a:t>
            </a:r>
            <a:r>
              <a:rPr sz="1196" b="0">
                <a:solidFill>
                  <a:srgbClr val="000000"/>
                </a:solidFill>
              </a:rPr>
              <a:t>, </a:t>
            </a:r>
            <a:r>
              <a:rPr sz="1196" b="1">
                <a:solidFill>
                  <a:srgbClr val="4D96FF"/>
                </a:solidFill>
              </a:rPr>
              <a:t>conversation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286000"/>
            <a:ext cx="4829054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Generally </a:t>
            </a:r>
            <a:r>
              <a:rPr sz="1196" b="1">
                <a:solidFill>
                  <a:srgbClr val="4D96FF"/>
                </a:solidFill>
              </a:rPr>
              <a:t>cheaper</a:t>
            </a:r>
            <a:r>
              <a:rPr sz="1196" b="0">
                <a:solidFill>
                  <a:srgbClr val="000000"/>
                </a:solidFill>
              </a:rPr>
              <a:t> than output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638425"/>
            <a:ext cx="4829054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Some models offer </a:t>
            </a:r>
            <a:r>
              <a:rPr sz="1196" b="1">
                <a:solidFill>
                  <a:srgbClr val="4D96FF"/>
                </a:solidFill>
              </a:rPr>
              <a:t>discounts</a:t>
            </a:r>
            <a:r>
              <a:rPr sz="1196" b="0">
                <a:solidFill>
                  <a:srgbClr val="000000"/>
                </a:solidFill>
              </a:rPr>
              <a:t> for cached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4895849"/>
            <a:ext cx="482905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Output Tokens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934364"/>
            <a:ext cx="266693" cy="208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33" y="5334000"/>
            <a:ext cx="4829054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Tokens in the model's </a:t>
            </a:r>
            <a:r>
              <a:rPr sz="1196" b="1">
                <a:solidFill>
                  <a:srgbClr val="4D96FF"/>
                </a:solidFill>
              </a:rP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5676900"/>
            <a:ext cx="4829054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Includes </a:t>
            </a:r>
            <a:r>
              <a:rPr sz="1196" b="1">
                <a:solidFill>
                  <a:srgbClr val="4D96FF"/>
                </a:solidFill>
              </a:rPr>
              <a:t>generated text</a:t>
            </a:r>
            <a:r>
              <a:rPr sz="1196" b="0">
                <a:solidFill>
                  <a:srgbClr val="000000"/>
                </a:solidFill>
              </a:rPr>
              <a:t>, </a:t>
            </a:r>
            <a:r>
              <a:rPr sz="1196" b="1">
                <a:solidFill>
                  <a:srgbClr val="4D96FF"/>
                </a:solidFill>
              </a:rPr>
              <a:t>code</a:t>
            </a:r>
            <a:r>
              <a:rPr sz="1196" b="0">
                <a:solidFill>
                  <a:srgbClr val="000000"/>
                </a:solidFill>
              </a:rPr>
              <a:t>, </a:t>
            </a:r>
            <a:r>
              <a:rPr sz="1196" b="1">
                <a:solidFill>
                  <a:srgbClr val="4D96FF"/>
                </a:solidFill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" y="6038849"/>
            <a:ext cx="4829054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Typically </a:t>
            </a:r>
            <a:r>
              <a:rPr sz="1196" b="1">
                <a:solidFill>
                  <a:srgbClr val="4D96FF"/>
                </a:solidFill>
              </a:rPr>
              <a:t>2-5x more expensive</a:t>
            </a:r>
            <a:r>
              <a:rPr sz="1196" b="0">
                <a:solidFill>
                  <a:srgbClr val="000000"/>
                </a:solidFill>
              </a:rPr>
              <a:t> than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33" y="6381749"/>
            <a:ext cx="4829054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Limited by model's </a:t>
            </a:r>
            <a:r>
              <a:rPr sz="1196" b="1">
                <a:solidFill>
                  <a:srgbClr val="4D96FF"/>
                </a:solidFill>
              </a:rPr>
              <a:t>maximum output</a:t>
            </a:r>
            <a:r>
              <a:rPr sz="1196" b="0">
                <a:solidFill>
                  <a:srgbClr val="000000"/>
                </a:solidFill>
              </a:rPr>
              <a:t> setting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8782050"/>
            <a:ext cx="4829054" cy="761999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3" y="8782050"/>
            <a:ext cx="4829054" cy="761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0"/>
              </a:spcAft>
            </a:pPr>
            <a:r>
              <a:rPr sz="1196" b="1">
                <a:solidFill>
                  <a:srgbClr val="102A5C"/>
                </a:solidFill>
              </a:rPr>
              <a:t>Total Cost = (Input Tokens × Input Price) + (Output Tokens × Output Price)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81530" y="1143000"/>
            <a:ext cx="5743431" cy="3267075"/>
          </a:xfrm>
          <a:prstGeom prst="roundRect">
            <a:avLst>
              <a:gd name="adj" fmla="val 4664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2025" y="1333500"/>
            <a:ext cx="536244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102A5C"/>
                </a:solidFill>
              </a:rPr>
              <a:t>Token Count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72025" y="1695449"/>
            <a:ext cx="5362440" cy="1190625"/>
          </a:xfrm>
          <a:prstGeom prst="roundRect">
            <a:avLst>
              <a:gd name="adj" fmla="val 12800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442753" y="2224721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2996" y="1838324"/>
            <a:ext cx="50385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Input: "Explain how LLMs work in simple terms"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2996" y="2105024"/>
            <a:ext cx="50385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315" b="1">
                <a:solidFill>
                  <a:srgbClr val="102A5C"/>
                </a:solidFill>
              </a:rPr>
              <a:t>~10 input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2996" y="2466975"/>
            <a:ext cx="828654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2996" y="2466975"/>
            <a:ext cx="82865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4046" y="2466975"/>
            <a:ext cx="466713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4046" y="2466975"/>
            <a:ext cx="46671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3631" y="2466975"/>
            <a:ext cx="561960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3631" y="2466975"/>
            <a:ext cx="56196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LLMs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38939" y="2466975"/>
            <a:ext cx="561960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8939" y="2466975"/>
            <a:ext cx="56196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3771" y="2466975"/>
            <a:ext cx="371465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3771" y="2466975"/>
            <a:ext cx="37146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58108" y="2466975"/>
            <a:ext cx="742931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58108" y="2466975"/>
            <a:ext cx="74293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simple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43911" y="2466975"/>
            <a:ext cx="647683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43911" y="2466975"/>
            <a:ext cx="64768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terms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72025" y="3028950"/>
            <a:ext cx="5362440" cy="1190625"/>
          </a:xfrm>
          <a:prstGeom prst="roundRect">
            <a:avLst>
              <a:gd name="adj" fmla="val 12800"/>
            </a:avLst>
          </a:prstGeom>
          <a:solidFill>
            <a:srgbClr val="D0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442753" y="3558222"/>
            <a:ext cx="1190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E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2996" y="3171825"/>
            <a:ext cx="50385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Output: "LLMs process text by breaking it into tokens...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2996" y="3438525"/>
            <a:ext cx="50385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315" b="1">
                <a:solidFill>
                  <a:srgbClr val="102A5C"/>
                </a:solidFill>
              </a:rPr>
              <a:t>~30 output tokens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2996" y="3800475"/>
            <a:ext cx="561960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52996" y="3800475"/>
            <a:ext cx="56196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LLMs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7828" y="3800475"/>
            <a:ext cx="828654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7828" y="3800475"/>
            <a:ext cx="828654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29354" y="3800475"/>
            <a:ext cx="561960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29354" y="3800475"/>
            <a:ext cx="56196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text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34186" y="3800475"/>
            <a:ext cx="371465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4186" y="3800475"/>
            <a:ext cx="37146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by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48523" y="3800475"/>
            <a:ext cx="923901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48523" y="3800475"/>
            <a:ext cx="923901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breaking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15297" y="3800475"/>
            <a:ext cx="466713" cy="276225"/>
          </a:xfrm>
          <a:prstGeom prst="roundRect">
            <a:avLst>
              <a:gd name="adj" fmla="val 27586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15297" y="3800475"/>
            <a:ext cx="46671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...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81530" y="4600575"/>
            <a:ext cx="5743431" cy="2667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781530" y="7458075"/>
            <a:ext cx="5743431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Why Token Count Matters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781530" y="7500937"/>
            <a:ext cx="266693" cy="2000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781530" y="7896224"/>
            <a:ext cx="5743431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Directly impacts </a:t>
            </a:r>
            <a:r>
              <a:rPr sz="1196" b="1">
                <a:solidFill>
                  <a:srgbClr val="4D96FF"/>
                </a:solidFill>
              </a:rPr>
              <a:t>API costs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81530" y="8248649"/>
            <a:ext cx="5743431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Affects </a:t>
            </a:r>
            <a:r>
              <a:rPr sz="1196" b="1">
                <a:solidFill>
                  <a:srgbClr val="4D96FF"/>
                </a:solidFill>
              </a:rPr>
              <a:t>response time</a:t>
            </a:r>
            <a:r>
              <a:rPr sz="1196" b="0">
                <a:solidFill>
                  <a:srgbClr val="000000"/>
                </a:solidFill>
              </a:rPr>
              <a:t> and latency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81530" y="8601075"/>
            <a:ext cx="5743431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Determines </a:t>
            </a:r>
            <a:r>
              <a:rPr sz="1196" b="1">
                <a:solidFill>
                  <a:srgbClr val="4D96FF"/>
                </a:solidFill>
              </a:rPr>
              <a:t>context window usage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81530" y="8953500"/>
            <a:ext cx="5743431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Key for </a:t>
            </a:r>
            <a:r>
              <a:rPr sz="1196" b="1">
                <a:solidFill>
                  <a:srgbClr val="4D96FF"/>
                </a:solidFill>
              </a:rPr>
              <a:t>optimizing</a:t>
            </a:r>
            <a:r>
              <a:rPr sz="1196" b="0">
                <a:solidFill>
                  <a:srgbClr val="000000"/>
                </a:solidFill>
              </a:rPr>
              <a:t>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LLM Pricing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How LLMs Are Priced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2342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5811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Primarily based on </a:t>
            </a:r>
            <a:r>
              <a:rPr sz="1196" b="1">
                <a:solidFill>
                  <a:srgbClr val="4D96FF"/>
                </a:solidFill>
              </a:rPr>
              <a:t>token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93357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Input tokens</a:t>
            </a:r>
            <a:r>
              <a:rPr sz="1196" b="0">
                <a:solidFill>
                  <a:srgbClr val="000000"/>
                </a:solidFill>
              </a:rPr>
              <a:t> and </a:t>
            </a:r>
            <a:r>
              <a:rPr sz="1196" b="1">
                <a:solidFill>
                  <a:srgbClr val="4D96FF"/>
                </a:solidFill>
              </a:rPr>
              <a:t>output tokens</a:t>
            </a:r>
            <a:r>
              <a:rPr sz="1196" b="0">
                <a:solidFill>
                  <a:srgbClr val="000000"/>
                </a:solidFill>
              </a:rPr>
              <a:t> priced separately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2860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Higher-tier models cost </a:t>
            </a:r>
            <a:r>
              <a:rPr sz="1196" b="1">
                <a:solidFill>
                  <a:srgbClr val="4D96FF"/>
                </a:solidFill>
              </a:rPr>
              <a:t>more per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6384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Some models offer </a:t>
            </a:r>
            <a:r>
              <a:rPr sz="1196" b="1">
                <a:solidFill>
                  <a:srgbClr val="4D96FF"/>
                </a:solidFill>
              </a:rPr>
              <a:t>discounts</a:t>
            </a:r>
            <a:r>
              <a:rPr sz="1196" b="0">
                <a:solidFill>
                  <a:srgbClr val="000000"/>
                </a:solidFill>
              </a:rPr>
              <a:t> for cached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4133849"/>
            <a:ext cx="5286242" cy="1209674"/>
          </a:xfrm>
          <a:prstGeom prst="roundRect">
            <a:avLst>
              <a:gd name="adj" fmla="val 12598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7228" y="43243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4461841"/>
            <a:ext cx="266693" cy="2203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338" y="4324349"/>
            <a:ext cx="428614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02A5C"/>
                </a:solidFill>
              </a:rPr>
              <a:t>Pay-Per-Use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338" y="4648200"/>
            <a:ext cx="428614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Pay only for tokens you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338" y="4933950"/>
            <a:ext cx="428614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$0.035 - $150 per million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6448425"/>
            <a:ext cx="5286242" cy="1209674"/>
          </a:xfrm>
          <a:prstGeom prst="roundRect">
            <a:avLst>
              <a:gd name="adj" fmla="val 12598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228" y="66389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6763992"/>
            <a:ext cx="266693" cy="2261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76338" y="6638924"/>
            <a:ext cx="428614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02A5C"/>
                </a:solidFill>
              </a:rPr>
              <a:t>Subscription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6338" y="6953249"/>
            <a:ext cx="428614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Fixed monthly fee with token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6338" y="7248525"/>
            <a:ext cx="428614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$20 - $200 per month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1143000"/>
            <a:ext cx="5286242" cy="2667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38719" y="400050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Pricing Factors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38719" y="4052887"/>
            <a:ext cx="266693" cy="2000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38719" y="44386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Model size</a:t>
            </a:r>
            <a:r>
              <a:rPr sz="1196" b="0">
                <a:solidFill>
                  <a:srgbClr val="000000"/>
                </a:solidFill>
              </a:rPr>
              <a:t> - Larger models cost more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8719" y="479107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Performance tier</a:t>
            </a:r>
            <a:r>
              <a:rPr sz="1196" b="0">
                <a:solidFill>
                  <a:srgbClr val="000000"/>
                </a:solidFill>
              </a:rPr>
              <a:t> - Premium models cost more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8719" y="51435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Context window</a:t>
            </a:r>
            <a:r>
              <a:rPr sz="1196" b="0">
                <a:solidFill>
                  <a:srgbClr val="000000"/>
                </a:solidFill>
              </a:rPr>
              <a:t> - Larger windows cost 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719" y="549592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Specialized capabilities</a:t>
            </a:r>
            <a:r>
              <a:rPr sz="1196" b="0">
                <a:solidFill>
                  <a:srgbClr val="000000"/>
                </a:solidFill>
              </a:rPr>
              <a:t> - Vision, coding, etc.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8719" y="6086475"/>
            <a:ext cx="5286242" cy="1571625"/>
          </a:xfrm>
          <a:prstGeom prst="roundRect">
            <a:avLst>
              <a:gd name="adj" fmla="val 9696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29214" y="62769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86362" y="6406390"/>
            <a:ext cx="266693" cy="21741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48323" y="6276975"/>
            <a:ext cx="428614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02A5C"/>
                </a:solidFill>
              </a:rPr>
              <a:t>Cost Optimization Strategies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8323" y="6591300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Use </a:t>
            </a:r>
            <a:r>
              <a:rPr sz="1076" b="1">
                <a:solidFill>
                  <a:srgbClr val="4D96FF"/>
                </a:solidFill>
              </a:rPr>
              <a:t>smaller models</a:t>
            </a:r>
            <a:r>
              <a:rPr sz="1076" b="0">
                <a:solidFill>
                  <a:srgbClr val="333333"/>
                </a:solidFill>
              </a:rPr>
              <a:t> for simple 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8323" y="6810374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Implement </a:t>
            </a:r>
            <a:r>
              <a:rPr sz="1076" b="1">
                <a:solidFill>
                  <a:srgbClr val="4D96FF"/>
                </a:solidFill>
              </a:rPr>
              <a:t>caching</a:t>
            </a:r>
            <a:r>
              <a:rPr sz="1076" b="0">
                <a:solidFill>
                  <a:srgbClr val="333333"/>
                </a:solidFill>
              </a:rPr>
              <a:t> for repeated inputs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323" y="7029450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Optimize </a:t>
            </a:r>
            <a:r>
              <a:rPr sz="1076" b="1">
                <a:solidFill>
                  <a:srgbClr val="4D96FF"/>
                </a:solidFill>
              </a:rPr>
              <a:t>prompt engineering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8323" y="7248525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Consider </a:t>
            </a:r>
            <a:r>
              <a:rPr sz="1076" b="1">
                <a:solidFill>
                  <a:srgbClr val="4D96FF"/>
                </a:solidFill>
              </a:rPr>
              <a:t>self-hosting</a:t>
            </a:r>
            <a:r>
              <a:rPr sz="1076" b="0">
                <a:solidFill>
                  <a:srgbClr val="333333"/>
                </a:solidFill>
              </a:rPr>
              <a:t> for high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Pricing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1085822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LLM pricing varies significantly across models and providers. Understanding these differences is crucial for </a:t>
            </a:r>
            <a:r>
              <a:rPr sz="1196" b="1">
                <a:solidFill>
                  <a:srgbClr val="4D96FF"/>
                </a:solidFill>
              </a:rPr>
              <a:t>cost optimization</a:t>
            </a:r>
            <a:r>
              <a:rPr sz="1196" b="0">
                <a:solidFill>
                  <a:srgbClr val="333333"/>
                </a:solidFill>
              </a:rPr>
              <a:t> and selecting the right model for your use case.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66899"/>
            <a:ext cx="10858228" cy="38099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5867399"/>
            <a:ext cx="2495487" cy="1304925"/>
          </a:xfrm>
          <a:prstGeom prst="roundRect">
            <a:avLst>
              <a:gd name="adj" fmla="val 11678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604" y="6010274"/>
            <a:ext cx="22097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02A5C"/>
                </a:solidFill>
              </a:rPr>
              <a:t> Budget Models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6031706"/>
            <a:ext cx="228594" cy="1857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04" y="6334125"/>
            <a:ext cx="220974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555555"/>
                </a:solidFill>
              </a:rPr>
              <a:t>Amazon Nova Micro, Gemini Flash-8B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6810374"/>
            <a:ext cx="22097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$0.04 - $0.15 per 1M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7488" y="5867399"/>
            <a:ext cx="2495487" cy="1304925"/>
          </a:xfrm>
          <a:prstGeom prst="roundRect">
            <a:avLst>
              <a:gd name="adj" fmla="val 11678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359" y="6010274"/>
            <a:ext cx="22097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02A5C"/>
                </a:solidFill>
              </a:rPr>
              <a:t> Mid-Range Models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600359" y="6031706"/>
            <a:ext cx="228594" cy="1857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00359" y="6334125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555555"/>
                </a:solidFill>
              </a:rPr>
              <a:t>GPT-4o Mini, Claude 3.5 Haiku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359" y="6619875"/>
            <a:ext cx="22097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$0.15 - $0.60 per 1M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5867399"/>
            <a:ext cx="2495487" cy="1304925"/>
          </a:xfrm>
          <a:prstGeom prst="roundRect">
            <a:avLst>
              <a:gd name="adj" fmla="val 11678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1590" y="6010274"/>
            <a:ext cx="22097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02A5C"/>
                </a:solidFill>
              </a:rPr>
              <a:t> Premium Models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6021705"/>
            <a:ext cx="228594" cy="2057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81590" y="6334125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555555"/>
                </a:solidFill>
              </a:rPr>
              <a:t>GPT-4o, Claude 3.5 Sonnet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590" y="6619875"/>
            <a:ext cx="22097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$2.50 - $15 per 1M 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9474" y="5867399"/>
            <a:ext cx="2495487" cy="1304925"/>
          </a:xfrm>
          <a:prstGeom prst="roundRect">
            <a:avLst>
              <a:gd name="adj" fmla="val 11678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2345" y="6010274"/>
            <a:ext cx="22097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02A5C"/>
                </a:solidFill>
              </a:rPr>
              <a:t> Enterprise Models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72345" y="6038849"/>
            <a:ext cx="228594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72345" y="6334125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956" b="0">
                <a:solidFill>
                  <a:srgbClr val="555555"/>
                </a:solidFill>
              </a:rPr>
              <a:t>GPT-4.5, Claude Opus 4.1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2345" y="6619875"/>
            <a:ext cx="22097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$15 - $150 per 1M tokens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7553324"/>
            <a:ext cx="10858228" cy="1181099"/>
          </a:xfrm>
          <a:prstGeom prst="roundRect">
            <a:avLst>
              <a:gd name="adj" fmla="val 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142224" y="8077833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703" y="7696199"/>
            <a:ext cx="105343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102A5C"/>
                </a:solidFill>
              </a:rPr>
              <a:t> Key Pricing Insights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7703" y="7713344"/>
            <a:ext cx="228594" cy="19430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7703" y="8055999"/>
            <a:ext cx="171445" cy="995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5347" y="8020049"/>
            <a:ext cx="31241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Output tokens cost </a:t>
            </a:r>
            <a:r>
              <a:rPr sz="956" b="1">
                <a:solidFill>
                  <a:srgbClr val="4D96FF"/>
                </a:solidFill>
              </a:rPr>
              <a:t>2-10x more</a:t>
            </a:r>
            <a:r>
              <a:rPr sz="956" b="0">
                <a:solidFill>
                  <a:srgbClr val="000000"/>
                </a:solidFill>
              </a:rPr>
              <a:t> than input tokens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14897" y="8050468"/>
            <a:ext cx="171445" cy="1106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62540" y="8020049"/>
            <a:ext cx="32574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Specialized models (coding, vision) often </a:t>
            </a:r>
            <a:r>
              <a:rPr sz="956" b="1">
                <a:solidFill>
                  <a:srgbClr val="4D96FF"/>
                </a:solidFill>
              </a:rPr>
              <a:t>cost more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47703" y="8308565"/>
            <a:ext cx="171445" cy="16591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95347" y="8305799"/>
            <a:ext cx="34289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Some providers offer </a:t>
            </a:r>
            <a:r>
              <a:rPr sz="956" b="1">
                <a:solidFill>
                  <a:srgbClr val="4D96FF"/>
                </a:solidFill>
              </a:rPr>
              <a:t>volume discounts</a:t>
            </a:r>
            <a:r>
              <a:rPr sz="956" b="0">
                <a:solidFill>
                  <a:srgbClr val="000000"/>
                </a:solidFill>
              </a:rPr>
              <a:t> for high usage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114897" y="8322391"/>
            <a:ext cx="171445" cy="13826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62540" y="8305799"/>
            <a:ext cx="27812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D96FF"/>
                </a:solidFill>
              </a:rPr>
              <a:t>Larger context windows</a:t>
            </a:r>
            <a:r>
              <a:rPr sz="956" b="0">
                <a:solidFill>
                  <a:srgbClr val="000000"/>
                </a:solidFill>
              </a:rPr>
              <a:t> typically cost 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Calculating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286242" cy="3409950"/>
          </a:xfrm>
          <a:prstGeom prst="roundRect">
            <a:avLst>
              <a:gd name="adj" fmla="val 4469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28" y="1333500"/>
            <a:ext cx="49052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02A5C"/>
                </a:solidFill>
              </a:rPr>
              <a:t> Step-by-Step Cost Calculation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362489"/>
            <a:ext cx="266693" cy="2087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7228" y="17430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28" y="1743075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42" y="1743075"/>
            <a:ext cx="250501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1">
                <a:solidFill>
                  <a:srgbClr val="4D96FF"/>
                </a:solidFill>
              </a:rPr>
              <a:t>Count input tokens</a:t>
            </a:r>
            <a:r>
              <a:rPr sz="1076" b="0">
                <a:solidFill>
                  <a:srgbClr val="000000"/>
                </a:solidFill>
              </a:rPr>
              <a:t> in your prompt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28" y="217170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28" y="2171700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5842" y="2171700"/>
            <a:ext cx="332414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1">
                <a:solidFill>
                  <a:srgbClr val="4D96FF"/>
                </a:solidFill>
              </a:rPr>
              <a:t>Estimate output tokens</a:t>
            </a:r>
            <a:r>
              <a:rPr sz="1076" b="0">
                <a:solidFill>
                  <a:srgbClr val="000000"/>
                </a:solidFill>
              </a:rPr>
              <a:t> for expected response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260032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2600325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842" y="2600325"/>
            <a:ext cx="251453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1">
                <a:solidFill>
                  <a:srgbClr val="4D96FF"/>
                </a:solidFill>
              </a:rPr>
              <a:t>Find pricing</a:t>
            </a:r>
            <a:r>
              <a:rPr sz="1076" b="0">
                <a:solidFill>
                  <a:srgbClr val="000000"/>
                </a:solidFill>
              </a:rPr>
              <a:t> for your chosen model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302895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28" y="3028950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5842" y="3028950"/>
            <a:ext cx="222879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1">
                <a:solidFill>
                  <a:srgbClr val="4D96FF"/>
                </a:solidFill>
              </a:rPr>
              <a:t>Apply formula</a:t>
            </a:r>
            <a:r>
              <a:rPr sz="1076" b="0">
                <a:solidFill>
                  <a:srgbClr val="000000"/>
                </a:solidFill>
              </a:rPr>
              <a:t> to calculate cost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3457575"/>
            <a:ext cx="4905252" cy="761999"/>
          </a:xfrm>
          <a:prstGeom prst="roundRect">
            <a:avLst>
              <a:gd name="adj" fmla="val 20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3457575"/>
            <a:ext cx="4905252" cy="761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975"/>
              </a:spcAft>
            </a:pPr>
            <a:r>
              <a:rPr sz="1196" b="1">
                <a:solidFill>
                  <a:srgbClr val="102A5C"/>
                </a:solidFill>
              </a:rPr>
              <a:t>Total Cost = (Input Tokens × Input Price) + (Output Tokens × Output Price)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743450"/>
            <a:ext cx="5286242" cy="2076449"/>
          </a:xfrm>
          <a:prstGeom prst="roundRect">
            <a:avLst>
              <a:gd name="adj" fmla="val 7339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4933950"/>
            <a:ext cx="49052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02A5C"/>
                </a:solidFill>
              </a:rPr>
              <a:t> Example Calculation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4952792"/>
            <a:ext cx="266693" cy="2290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7228" y="5343525"/>
            <a:ext cx="49052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Scenario:</a:t>
            </a:r>
            <a:r>
              <a:rPr sz="1076" b="0">
                <a:solidFill>
                  <a:srgbClr val="000000"/>
                </a:solidFill>
              </a:rPr>
              <a:t> Chatbot using GPT-4o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28" y="5562600"/>
            <a:ext cx="49052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Input:</a:t>
            </a:r>
            <a:r>
              <a:rPr sz="1076" b="0">
                <a:solidFill>
                  <a:srgbClr val="000000"/>
                </a:solidFill>
              </a:rPr>
              <a:t> 1,000 tokens (average conversation)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28" y="5781674"/>
            <a:ext cx="49052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Output:</a:t>
            </a:r>
            <a:r>
              <a:rPr sz="1076" b="0">
                <a:solidFill>
                  <a:srgbClr val="000000"/>
                </a:solidFill>
              </a:rPr>
              <a:t> 500 tokens (average response)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28" y="6000750"/>
            <a:ext cx="49052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Pricing:</a:t>
            </a:r>
            <a:r>
              <a:rPr sz="1076" b="0">
                <a:solidFill>
                  <a:srgbClr val="000000"/>
                </a:solidFill>
              </a:rPr>
              <a:t> $2.50/1M input, $10.00/1M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28" y="6362700"/>
            <a:ext cx="49052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0"/>
              </a:spcAft>
            </a:pPr>
            <a:r>
              <a:rPr sz="1315" b="1">
                <a:solidFill>
                  <a:srgbClr val="102A5C"/>
                </a:solidFill>
              </a:rPr>
              <a:t>Cost per conversation = $0.0075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8719" y="1143000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Cost Optimization Strategies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38719" y="1195387"/>
            <a:ext cx="266693" cy="2000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38719" y="158114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Use </a:t>
            </a:r>
            <a:r>
              <a:rPr sz="1196" b="1">
                <a:solidFill>
                  <a:srgbClr val="4D96FF"/>
                </a:solidFill>
              </a:rPr>
              <a:t>smaller models</a:t>
            </a:r>
            <a:r>
              <a:rPr sz="1196" b="0">
                <a:solidFill>
                  <a:srgbClr val="000000"/>
                </a:solidFill>
              </a:rPr>
              <a:t> for simple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8719" y="1933574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Limit output length</a:t>
            </a:r>
            <a:r>
              <a:rPr sz="1196" b="0">
                <a:solidFill>
                  <a:srgbClr val="000000"/>
                </a:solidFill>
              </a:rPr>
              <a:t> with max tokens parameter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8719" y="228600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Implement </a:t>
            </a:r>
            <a:r>
              <a:rPr sz="1196" b="1">
                <a:solidFill>
                  <a:srgbClr val="4D96FF"/>
                </a:solidFill>
              </a:rPr>
              <a:t>caching</a:t>
            </a:r>
            <a:r>
              <a:rPr sz="1196" b="0">
                <a:solidFill>
                  <a:srgbClr val="000000"/>
                </a:solidFill>
              </a:rPr>
              <a:t> for repeated queries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8719" y="26384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4D96FF"/>
                </a:solidFill>
              </a:rPr>
              <a:t>Fine-tune</a:t>
            </a:r>
            <a:r>
              <a:rPr sz="1196" b="0">
                <a:solidFill>
                  <a:srgbClr val="000000"/>
                </a:solidFill>
              </a:rPr>
              <a:t> models for specific tasks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8719" y="3524250"/>
            <a:ext cx="5286242" cy="1447800"/>
          </a:xfrm>
          <a:prstGeom prst="roundRect">
            <a:avLst>
              <a:gd name="adj" fmla="val 10526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9214" y="3714750"/>
            <a:ext cx="49052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02A5C"/>
                </a:solidFill>
              </a:rPr>
              <a:t> Advanced Calculations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29214" y="3752435"/>
            <a:ext cx="266693" cy="1913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29214" y="4124324"/>
            <a:ext cx="49052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Monthly Cost:</a:t>
            </a:r>
            <a:r>
              <a:rPr sz="1076" b="0">
                <a:solidFill>
                  <a:srgbClr val="000000"/>
                </a:solidFill>
              </a:rPr>
              <a:t> Daily Cost × 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9214" y="4343400"/>
            <a:ext cx="49052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Per User Cost:</a:t>
            </a:r>
            <a:r>
              <a:rPr sz="1076" b="0">
                <a:solidFill>
                  <a:srgbClr val="000000"/>
                </a:solidFill>
              </a:rPr>
              <a:t> Monthly Cost ÷ 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9214" y="4562475"/>
            <a:ext cx="49052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96FF"/>
                </a:solidFill>
              </a:rPr>
              <a:t>ROI:</a:t>
            </a:r>
            <a:r>
              <a:rPr sz="1076" b="0">
                <a:solidFill>
                  <a:srgbClr val="000000"/>
                </a:solidFill>
              </a:rPr>
              <a:t> (Revenue - Cost) ÷ Cost × 100%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8719" y="5648325"/>
            <a:ext cx="2571685" cy="609600"/>
          </a:xfrm>
          <a:prstGeom prst="roundRect">
            <a:avLst>
              <a:gd name="adj" fmla="val 0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999959" y="58870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9689" y="5776632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05432" y="5762625"/>
            <a:ext cx="196210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 </a:t>
            </a:r>
            <a:r>
              <a:rPr sz="956" b="1">
                <a:solidFill>
                  <a:srgbClr val="4D96FF"/>
                </a:solidFill>
              </a:rPr>
              <a:t>Track token usage</a:t>
            </a:r>
            <a:r>
              <a:rPr sz="956" b="0">
                <a:solidFill>
                  <a:srgbClr val="000000"/>
                </a:solidFill>
              </a:rPr>
              <a:t> in real-time to avoid surprises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53276" y="5648325"/>
            <a:ext cx="2571685" cy="609600"/>
          </a:xfrm>
          <a:prstGeom prst="roundRect">
            <a:avLst>
              <a:gd name="adj" fmla="val 0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8714516" y="58870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24721" y="5776632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410464" y="5762625"/>
            <a:ext cx="196210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 </a:t>
            </a:r>
            <a:r>
              <a:rPr sz="956" b="1">
                <a:solidFill>
                  <a:srgbClr val="4D96FF"/>
                </a:solidFill>
              </a:rPr>
              <a:t>Set budget alerts</a:t>
            </a:r>
            <a:r>
              <a:rPr sz="956" b="0">
                <a:solidFill>
                  <a:srgbClr val="000000"/>
                </a:solidFill>
              </a:rPr>
              <a:t> to prevent overspending 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8719" y="6400800"/>
            <a:ext cx="2571685" cy="609600"/>
          </a:xfrm>
          <a:prstGeom prst="roundRect">
            <a:avLst>
              <a:gd name="adj" fmla="val 0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999959" y="66395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9689" y="6529107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05432" y="6515100"/>
            <a:ext cx="196210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 </a:t>
            </a:r>
            <a:r>
              <a:rPr sz="956" b="1">
                <a:solidFill>
                  <a:srgbClr val="4D96FF"/>
                </a:solidFill>
              </a:rPr>
              <a:t>Consider self-hosting</a:t>
            </a:r>
            <a:r>
              <a:rPr sz="956" b="0">
                <a:solidFill>
                  <a:srgbClr val="000000"/>
                </a:solidFill>
              </a:rPr>
              <a:t> for high-volume applications 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53276" y="6400800"/>
            <a:ext cx="2571685" cy="609600"/>
          </a:xfrm>
          <a:prstGeom prst="roundRect">
            <a:avLst>
              <a:gd name="adj" fmla="val 0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8714516" y="66395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24721" y="6529107"/>
            <a:ext cx="190495" cy="16248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410464" y="6515100"/>
            <a:ext cx="196210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</a:rPr>
              <a:t> </a:t>
            </a:r>
            <a:r>
              <a:rPr sz="956" b="1">
                <a:solidFill>
                  <a:srgbClr val="4D96FF"/>
                </a:solidFill>
              </a:rPr>
              <a:t>Use specialized models</a:t>
            </a:r>
            <a:r>
              <a:rPr sz="956" b="0">
                <a:solidFill>
                  <a:srgbClr val="000000"/>
                </a:solidFill>
              </a:rPr>
              <a:t> for specific tasks to reduce costs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286242" cy="1571625"/>
          </a:xfrm>
          <a:prstGeom prst="roundRect">
            <a:avLst>
              <a:gd name="adj" fmla="val 9696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28" y="1333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14377" y="1477410"/>
            <a:ext cx="266693" cy="188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6338" y="1333500"/>
            <a:ext cx="428614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02A5C"/>
                </a:solidFill>
              </a:rPr>
              <a:t>Optimize Token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6338" y="1647825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</a:t>
            </a:r>
            <a:r>
              <a:rPr sz="1076" b="1">
                <a:solidFill>
                  <a:srgbClr val="4D96FF"/>
                </a:solidFill>
              </a:rPr>
              <a:t>Be concise</a:t>
            </a:r>
            <a:r>
              <a:rPr sz="1076" b="0">
                <a:solidFill>
                  <a:srgbClr val="333333"/>
                </a:solidFill>
              </a:rPr>
              <a:t> in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338" y="1866899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</a:t>
            </a:r>
            <a:r>
              <a:rPr sz="1076" b="1">
                <a:solidFill>
                  <a:srgbClr val="4D96FF"/>
                </a:solidFill>
              </a:rPr>
              <a:t>Limit output length</a:t>
            </a:r>
            <a:r>
              <a:rPr sz="1076" b="0">
                <a:solidFill>
                  <a:srgbClr val="333333"/>
                </a:solidFill>
              </a:rPr>
              <a:t> with max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338" y="2085975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</a:t>
            </a:r>
            <a:r>
              <a:rPr sz="1076" b="1">
                <a:solidFill>
                  <a:srgbClr val="4D96FF"/>
                </a:solidFill>
              </a:rPr>
              <a:t>Remove redundant</a:t>
            </a:r>
            <a:r>
              <a:rPr sz="1076" b="0">
                <a:solidFill>
                  <a:srgbClr val="333333"/>
                </a:solidFill>
              </a:rPr>
              <a:t>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338" y="2305049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Use </a:t>
            </a:r>
            <a:r>
              <a:rPr sz="1076" b="1">
                <a:solidFill>
                  <a:srgbClr val="4D96FF"/>
                </a:solidFill>
              </a:rPr>
              <a:t>system messages</a:t>
            </a:r>
            <a:r>
              <a:rPr sz="1076" b="0">
                <a:solidFill>
                  <a:srgbClr val="333333"/>
                </a:solidFill>
              </a:rPr>
              <a:t> efficiently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905375"/>
            <a:ext cx="5286242" cy="1571625"/>
          </a:xfrm>
          <a:prstGeom prst="roundRect">
            <a:avLst>
              <a:gd name="adj" fmla="val 9696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7228" y="5095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5219492"/>
            <a:ext cx="266693" cy="2290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76338" y="5095874"/>
            <a:ext cx="428614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02A5C"/>
                </a:solidFill>
              </a:rPr>
              <a:t>Select the Right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338" y="5410199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</a:t>
            </a:r>
            <a:r>
              <a:rPr sz="1076" b="1">
                <a:solidFill>
                  <a:srgbClr val="4D96FF"/>
                </a:solidFill>
              </a:rPr>
              <a:t>Match model capability</a:t>
            </a:r>
            <a:r>
              <a:rPr sz="1076" b="0">
                <a:solidFill>
                  <a:srgbClr val="333333"/>
                </a:solidFill>
              </a:rPr>
              <a:t> to task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338" y="5629275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Use </a:t>
            </a:r>
            <a:r>
              <a:rPr sz="1076" b="1">
                <a:solidFill>
                  <a:srgbClr val="4D96FF"/>
                </a:solidFill>
              </a:rPr>
              <a:t>smaller models</a:t>
            </a:r>
            <a:r>
              <a:rPr sz="1076" b="0">
                <a:solidFill>
                  <a:srgbClr val="333333"/>
                </a:solidFill>
              </a:rPr>
              <a:t> for simple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338" y="5848350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Consider </a:t>
            </a:r>
            <a:r>
              <a:rPr sz="1076" b="1">
                <a:solidFill>
                  <a:srgbClr val="4D96FF"/>
                </a:solidFill>
              </a:rPr>
              <a:t>specialized models</a:t>
            </a:r>
            <a:r>
              <a:rPr sz="1076" b="0">
                <a:solidFill>
                  <a:srgbClr val="333333"/>
                </a:solidFill>
              </a:rPr>
              <a:t> for specific domains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6338" y="6067424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Balance </a:t>
            </a:r>
            <a:r>
              <a:rPr sz="1076" b="1">
                <a:solidFill>
                  <a:srgbClr val="4D96FF"/>
                </a:solidFill>
              </a:rPr>
              <a:t>performance vs.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8719" y="1143000"/>
            <a:ext cx="5286242" cy="1571625"/>
          </a:xfrm>
          <a:prstGeom prst="roundRect">
            <a:avLst>
              <a:gd name="adj" fmla="val 9696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29214" y="1333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86362" y="1462915"/>
            <a:ext cx="266693" cy="21741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48323" y="1333500"/>
            <a:ext cx="428614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02A5C"/>
                </a:solidFill>
              </a:rPr>
              <a:t>Manage Costs Effectively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323" y="1647825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</a:t>
            </a:r>
            <a:r>
              <a:rPr sz="1076" b="1">
                <a:solidFill>
                  <a:srgbClr val="4D96FF"/>
                </a:solidFill>
              </a:rPr>
              <a:t>Monitor usage</a:t>
            </a:r>
            <a:r>
              <a:rPr sz="1076" b="0">
                <a:solidFill>
                  <a:srgbClr val="333333"/>
                </a:solidFill>
              </a:rPr>
              <a:t> with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323" y="1866899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Implement </a:t>
            </a:r>
            <a:r>
              <a:rPr sz="1076" b="1">
                <a:solidFill>
                  <a:srgbClr val="4D96FF"/>
                </a:solidFill>
              </a:rPr>
              <a:t>caching</a:t>
            </a:r>
            <a:r>
              <a:rPr sz="1076" b="0">
                <a:solidFill>
                  <a:srgbClr val="333333"/>
                </a:solidFill>
              </a:rPr>
              <a:t> for repeated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323" y="2085975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Set </a:t>
            </a:r>
            <a:r>
              <a:rPr sz="1076" b="1">
                <a:solidFill>
                  <a:srgbClr val="4D96FF"/>
                </a:solidFill>
              </a:rPr>
              <a:t>budget alerts</a:t>
            </a:r>
            <a:r>
              <a:rPr sz="1076" b="0">
                <a:solidFill>
                  <a:srgbClr val="333333"/>
                </a:solidFill>
              </a:rPr>
              <a:t> and limits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323" y="2305049"/>
            <a:ext cx="4286142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• Consider </a:t>
            </a:r>
            <a:r>
              <a:rPr sz="1076" b="1">
                <a:solidFill>
                  <a:srgbClr val="4D96FF"/>
                </a:solidFill>
              </a:rPr>
              <a:t>self-hosting</a:t>
            </a:r>
            <a:r>
              <a:rPr sz="1076" b="0">
                <a:solidFill>
                  <a:srgbClr val="333333"/>
                </a:solidFill>
              </a:rPr>
              <a:t> for high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8719" y="3095625"/>
            <a:ext cx="2571685" cy="942975"/>
          </a:xfrm>
          <a:prstGeom prst="roundRect">
            <a:avLst>
              <a:gd name="adj" fmla="val 0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833272" y="3501072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3258110"/>
            <a:ext cx="190495" cy="15127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05432" y="3238500"/>
            <a:ext cx="1962100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1">
                <a:solidFill>
                  <a:srgbClr val="4D96FF"/>
                </a:solidFill>
              </a:rPr>
              <a:t>Prompt engineering</a:t>
            </a:r>
            <a:r>
              <a:rPr sz="1076" b="0">
                <a:solidFill>
                  <a:srgbClr val="000000"/>
                </a:solidFill>
              </a:rPr>
              <a:t> reduces unnecessary tokens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6" y="3095625"/>
            <a:ext cx="2571685" cy="942975"/>
          </a:xfrm>
          <a:prstGeom prst="roundRect">
            <a:avLst>
              <a:gd name="adj" fmla="val 0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8547829" y="3501072"/>
            <a:ext cx="942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34246" y="3258110"/>
            <a:ext cx="190495" cy="15127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419989" y="3238500"/>
            <a:ext cx="1962100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1">
                <a:solidFill>
                  <a:srgbClr val="4D96FF"/>
                </a:solidFill>
              </a:rPr>
              <a:t>Fine-tune</a:t>
            </a:r>
            <a:r>
              <a:rPr sz="1076" b="0">
                <a:solidFill>
                  <a:srgbClr val="000000"/>
                </a:solidFill>
              </a:rPr>
              <a:t> models for specific tasks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8719" y="4181474"/>
            <a:ext cx="2571685" cy="723900"/>
          </a:xfrm>
          <a:prstGeom prst="roundRect">
            <a:avLst>
              <a:gd name="adj" fmla="val 0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942809" y="447738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4343960"/>
            <a:ext cx="190495" cy="15127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05432" y="4324349"/>
            <a:ext cx="1962100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1">
                <a:solidFill>
                  <a:srgbClr val="4D96FF"/>
                </a:solidFill>
              </a:rPr>
              <a:t>Batch requests</a:t>
            </a:r>
            <a:r>
              <a:rPr sz="1076" b="0">
                <a:solidFill>
                  <a:srgbClr val="000000"/>
                </a:solidFill>
              </a:rPr>
              <a:t> to reduce API calls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276" y="4181474"/>
            <a:ext cx="2571685" cy="723900"/>
          </a:xfrm>
          <a:prstGeom prst="roundRect">
            <a:avLst>
              <a:gd name="adj" fmla="val 0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8657366" y="4477384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34246" y="4357967"/>
            <a:ext cx="190495" cy="1232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419989" y="4324349"/>
            <a:ext cx="1962100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000000"/>
                </a:solidFill>
              </a:rPr>
              <a:t> </a:t>
            </a:r>
            <a:r>
              <a:rPr sz="1076" b="1">
                <a:solidFill>
                  <a:srgbClr val="4D96FF"/>
                </a:solidFill>
              </a:rPr>
              <a:t>A/B test</a:t>
            </a:r>
            <a:r>
              <a:rPr sz="1076" b="0">
                <a:solidFill>
                  <a:srgbClr val="000000"/>
                </a:solidFill>
              </a:rPr>
              <a:t> different models for your use case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8719" y="5095874"/>
            <a:ext cx="5286242" cy="1571625"/>
          </a:xfrm>
          <a:prstGeom prst="roundRect">
            <a:avLst>
              <a:gd name="adj" fmla="val 969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9214" y="5286375"/>
            <a:ext cx="49052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102A5C"/>
                </a:solidFill>
              </a:rPr>
              <a:t> Key Takeaways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29214" y="5306667"/>
            <a:ext cx="266693" cy="226115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6429214" y="5695949"/>
            <a:ext cx="1095347" cy="342900"/>
          </a:xfrm>
          <a:prstGeom prst="roundRect">
            <a:avLst>
              <a:gd name="adj" fmla="val 11111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9214" y="5695949"/>
            <a:ext cx="109534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02A5C"/>
                </a:solidFill>
              </a:rPr>
              <a:t> Efficiency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72085" y="5802085"/>
            <a:ext cx="152396" cy="130628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7619809" y="5695949"/>
            <a:ext cx="1485862" cy="342900"/>
          </a:xfrm>
          <a:prstGeom prst="roundRect">
            <a:avLst>
              <a:gd name="adj" fmla="val 11111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9809" y="5695949"/>
            <a:ext cx="148586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02A5C"/>
                </a:solidFill>
              </a:rPr>
              <a:t> Cost-awareness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762680" y="5802085"/>
            <a:ext cx="152396" cy="130628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9200919" y="5695949"/>
            <a:ext cx="1228694" cy="342900"/>
          </a:xfrm>
          <a:prstGeom prst="roundRect">
            <a:avLst>
              <a:gd name="adj" fmla="val 11111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00919" y="5695949"/>
            <a:ext cx="12286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02A5C"/>
                </a:solidFill>
              </a:rPr>
              <a:t> Right-sizing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343791" y="5802085"/>
            <a:ext cx="152396" cy="130628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6429214" y="6134100"/>
            <a:ext cx="1181070" cy="342900"/>
          </a:xfrm>
          <a:prstGeom prst="roundRect">
            <a:avLst>
              <a:gd name="adj" fmla="val 11111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29214" y="6134100"/>
            <a:ext cx="118107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02A5C"/>
                </a:solidFill>
              </a:rPr>
              <a:t> Monitoring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72085" y="6240235"/>
            <a:ext cx="152396" cy="130628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7705532" y="6134100"/>
            <a:ext cx="1028674" cy="342900"/>
          </a:xfrm>
          <a:prstGeom prst="roundRect">
            <a:avLst>
              <a:gd name="adj" fmla="val 11111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05532" y="6134100"/>
            <a:ext cx="10286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102A5C"/>
                </a:solidFill>
              </a:rPr>
              <a:t> Iteration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848403" y="6240235"/>
            <a:ext cx="152396" cy="1306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286242" cy="2600325"/>
          </a:xfrm>
          <a:prstGeom prst="roundRect">
            <a:avLst>
              <a:gd name="adj" fmla="val 5860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28" y="1333500"/>
            <a:ext cx="49052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02A5C"/>
                </a:solidFill>
              </a:rPr>
              <a:t> Key Takeaways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362489"/>
            <a:ext cx="266693" cy="2087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7228" y="1743075"/>
            <a:ext cx="2381190" cy="942975"/>
          </a:xfrm>
          <a:prstGeom prst="roundRect">
            <a:avLst>
              <a:gd name="adj" fmla="val 1616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0099" y="20192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2099641"/>
            <a:ext cx="266693" cy="2203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23961" y="1885950"/>
            <a:ext cx="1571585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02A5C"/>
                </a:solidFill>
              </a:rPr>
              <a:t>Tokens are the fundamental units of AI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1290" y="1743075"/>
            <a:ext cx="2381190" cy="942975"/>
          </a:xfrm>
          <a:prstGeom prst="roundRect">
            <a:avLst>
              <a:gd name="adj" fmla="val 16161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4161" y="20192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533686" y="2096742"/>
            <a:ext cx="266693" cy="2261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48023" y="1885950"/>
            <a:ext cx="1571585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02A5C"/>
                </a:solidFill>
              </a:rPr>
              <a:t>Context windows determine processing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2828925"/>
            <a:ext cx="2381190" cy="723900"/>
          </a:xfrm>
          <a:prstGeom prst="roundRect">
            <a:avLst>
              <a:gd name="adj" fmla="val 21052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0099" y="30003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077817"/>
            <a:ext cx="266693" cy="2261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23961" y="2971800"/>
            <a:ext cx="157158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02A5C"/>
                </a:solidFill>
              </a:rPr>
              <a:t>Pricing is based on token usage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1290" y="2828925"/>
            <a:ext cx="2381190" cy="723900"/>
          </a:xfrm>
          <a:prstGeom prst="roundRect">
            <a:avLst>
              <a:gd name="adj" fmla="val 21052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4161" y="30003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533686" y="3082165"/>
            <a:ext cx="266693" cy="21741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48023" y="2971800"/>
            <a:ext cx="157158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02A5C"/>
                </a:solidFill>
              </a:rPr>
              <a:t>Balance capability with cost efficiency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6315075"/>
            <a:ext cx="5286242" cy="723900"/>
          </a:xfrm>
          <a:prstGeom prst="roundRect">
            <a:avLst>
              <a:gd name="adj" fmla="val 0"/>
            </a:avLst>
          </a:prstGeom>
          <a:solidFill>
            <a:srgbClr val="E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70823" y="6610985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D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7703" y="6579870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19169" y="6457950"/>
            <a:ext cx="459093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02A5C"/>
                </a:solidFill>
              </a:rPr>
              <a:t>Understanding LLM fundamentals is essential for building efficient, cost-effective AI applications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8719" y="1143000"/>
            <a:ext cx="5286242" cy="3619499"/>
          </a:xfrm>
          <a:prstGeom prst="roundRect">
            <a:avLst>
              <a:gd name="adj" fmla="val 4210"/>
            </a:avLst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9214" y="1333500"/>
            <a:ext cx="49052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102A5C"/>
                </a:solidFill>
              </a:rPr>
              <a:t> Future Trends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29214" y="1394377"/>
            <a:ext cx="266693" cy="14494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29214" y="1797367"/>
            <a:ext cx="228594" cy="12001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00679" y="1743075"/>
            <a:ext cx="453378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02A5C"/>
                </a:solidFill>
              </a:rPr>
              <a:t>Massive Context Windows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0679" y="2009774"/>
            <a:ext cx="453378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From thousands to millions of tokens, enabling entire documents in a single prompt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29214" y="2559367"/>
            <a:ext cx="228594" cy="1771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00679" y="2533649"/>
            <a:ext cx="453378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02A5C"/>
                </a:solidFill>
              </a:rPr>
              <a:t>Efficient Architectures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0679" y="2800350"/>
            <a:ext cx="453378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New model designs reducing computational requirements while maintaining performance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29214" y="3349942"/>
            <a:ext cx="228594" cy="1771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00679" y="3324225"/>
            <a:ext cx="453378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02A5C"/>
                </a:solidFill>
              </a:rPr>
              <a:t>Cost Reduction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0679" y="3590924"/>
            <a:ext cx="453378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Continued price drops as technology matures and competition increases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429214" y="4140517"/>
            <a:ext cx="228594" cy="1771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00679" y="4114800"/>
            <a:ext cx="453378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102A5C"/>
                </a:solidFill>
              </a:rPr>
              <a:t>Advanced Reasoning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0679" y="4381499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</a:rPr>
              <a:t>Models with enhanced chain-of-thought and planning capabilities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8719" y="4952999"/>
            <a:ext cx="52862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102A5C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2A5C"/>
                </a:solidFill>
              </a:rPr>
              <a:t> Moving Forward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238719" y="4982196"/>
            <a:ext cx="266693" cy="2464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238719" y="5391150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Stay updated on </a:t>
            </a:r>
            <a:r>
              <a:rPr sz="1196" b="1">
                <a:solidFill>
                  <a:srgbClr val="4D96FF"/>
                </a:solidFill>
              </a:rPr>
              <a:t>rapid developments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8719" y="574357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Experiment with </a:t>
            </a:r>
            <a:r>
              <a:rPr sz="1196" b="1">
                <a:solidFill>
                  <a:srgbClr val="4D96FF"/>
                </a:solidFill>
              </a:rPr>
              <a:t>different models</a:t>
            </a:r>
            <a:r>
              <a:rPr sz="1196" b="0">
                <a:solidFill>
                  <a:srgbClr val="000000"/>
                </a:solidFill>
              </a:rPr>
              <a:t> for your use case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8719" y="6095999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Optimize for </a:t>
            </a:r>
            <a:r>
              <a:rPr sz="1196" b="1">
                <a:solidFill>
                  <a:srgbClr val="4D96FF"/>
                </a:solidFill>
              </a:rPr>
              <a:t>cost-effectiveness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8719" y="6448425"/>
            <a:ext cx="5286242" cy="23812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196" b="0">
                <a:solidFill>
                  <a:srgbClr val="000000"/>
                </a:solidFill>
              </a:rPr>
              <a:t>Consider </a:t>
            </a:r>
            <a:r>
              <a:rPr sz="1196" b="1">
                <a:solidFill>
                  <a:srgbClr val="4D96FF"/>
                </a:solidFill>
              </a:rPr>
              <a:t>ethical implications</a:t>
            </a:r>
            <a:r>
              <a:rPr sz="1196" b="0">
                <a:solidFill>
                  <a:srgbClr val="000000"/>
                </a:solidFill>
              </a:rPr>
              <a:t> of AI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